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embeddedFontLst>
    <p:embeddedFont>
      <p:font typeface="Merriweather"/>
      <p:regular r:id="rId201314"/>
    </p:embeddedFont>
    <p:embeddedFont>
      <p:font typeface="Merriweather Bold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68874" y="1367358"/>
            <a:ext cx="4635252" cy="964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Heart Disease Prediction Using Machine Learning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3968874" y="2562820"/>
            <a:ext cx="4635252" cy="7402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 data-driven approach to early cardiac risk detection — analyzing patient health parameters with multiple ML classification algorithms to support clinical decision-making.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3968874" y="3481388"/>
            <a:ext cx="1912888" cy="289917"/>
          </a:xfrm>
          <a:prstGeom prst="roundRect">
            <a:avLst>
              <a:gd name="adj" fmla="val 17879"/>
            </a:avLst>
          </a:prstGeom>
          <a:solidFill>
            <a:srgbClr val="001D4D"/>
          </a:solidFill>
          <a:ln/>
        </p:spPr>
      </p:sp>
      <p:sp>
        <p:nvSpPr>
          <p:cNvPr id="6" name="Text 3"/>
          <p:cNvSpPr/>
          <p:nvPr/>
        </p:nvSpPr>
        <p:spPr>
          <a:xfrm>
            <a:off x="4061371" y="3527599"/>
            <a:ext cx="2185095" cy="197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B.TECH PROJECT · 2023–2027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958855" y="3476625"/>
            <a:ext cx="1708249" cy="299442"/>
          </a:xfrm>
          <a:prstGeom prst="roundRect">
            <a:avLst>
              <a:gd name="adj" fmla="val 17310"/>
            </a:avLst>
          </a:prstGeom>
          <a:noFill/>
          <a:ln w="4763">
            <a:solidFill>
              <a:srgbClr val="609D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56114" y="3527599"/>
            <a:ext cx="1970931" cy="197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609D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THUNGETI RAJASEKHAR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3124" y="445517"/>
            <a:ext cx="1903437" cy="180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43124" y="661020"/>
            <a:ext cx="5494883" cy="361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Why Predict Heart Disease with ML?</a:t>
            </a:r>
            <a:endParaRPr lang="en-US" sz="22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124" y="1250231"/>
            <a:ext cx="4618658" cy="2597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848722" y="1982167"/>
            <a:ext cx="2356768" cy="11339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Cardiovascular disease remains the leading cause of death worldwide. Early detection through machine learning can analyze patient health parameters — </a:t>
            </a:r>
            <a:pPr algn="l" indent="0" marL="0">
              <a:lnSpc>
                <a:spcPct val="117000"/>
              </a:lnSpc>
              <a:buNone/>
            </a:pPr>
            <a:r>
              <a:rPr lang="en-US" sz="9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age, cholesterol, blood pressure, heart rate</a:t>
            </a:r>
            <a:pPr algn="l" indent="0" marL="0">
              <a:lnSpc>
                <a:spcPct val="1170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, and more — to estimate the likelihood of heart disease before symptoms appear.</a:t>
            </a:r>
            <a:endParaRPr lang="en-US" sz="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8836" y="4043288"/>
            <a:ext cx="2375669" cy="65469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15913" y="4173215"/>
            <a:ext cx="1446237" cy="180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Predict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115913" y="4406057"/>
            <a:ext cx="2058665" cy="161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Classify patients as at-risk or healthy</a:t>
            </a:r>
            <a:endParaRPr lang="en-US" sz="9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76985" y="4043288"/>
            <a:ext cx="2375669" cy="65469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564062" y="4173215"/>
            <a:ext cx="1446237" cy="180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Compare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3564062" y="4406057"/>
            <a:ext cx="2058665" cy="161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Evaluate multiple ML algorithms</a:t>
            </a:r>
            <a:endParaRPr lang="en-US" sz="9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25133" y="4043288"/>
            <a:ext cx="2375669" cy="65469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012210" y="4173215"/>
            <a:ext cx="1446237" cy="180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Detect Early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6012210" y="4406057"/>
            <a:ext cx="2058665" cy="161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Support proactive clinical decisions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429592"/>
            <a:ext cx="3952354" cy="436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Technologies Used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39874" y="1119857"/>
            <a:ext cx="8064252" cy="4263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project is built entirely in Python, leveraging a modern data science stack for data manipulation, visualization, and machine learning.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39874" y="1688753"/>
            <a:ext cx="2603599" cy="1555849"/>
          </a:xfrm>
          <a:prstGeom prst="roundRect">
            <a:avLst>
              <a:gd name="adj" fmla="val 3774"/>
            </a:avLst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4386" y="1833265"/>
            <a:ext cx="419398" cy="419398"/>
          </a:xfrm>
          <a:prstGeom prst="roundRect">
            <a:avLst>
              <a:gd name="adj" fmla="val 13625312"/>
            </a:avLst>
          </a:prstGeom>
          <a:solidFill>
            <a:srgbClr val="609D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9728" y="1948607"/>
            <a:ext cx="188714" cy="1887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4386" y="2379315"/>
            <a:ext cx="1747540" cy="218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Python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84386" y="2673697"/>
            <a:ext cx="2314575" cy="213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Core programming language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70126" y="1688753"/>
            <a:ext cx="2603674" cy="1555849"/>
          </a:xfrm>
          <a:prstGeom prst="roundRect">
            <a:avLst>
              <a:gd name="adj" fmla="val 3774"/>
            </a:avLst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14638" y="1833265"/>
            <a:ext cx="419398" cy="419398"/>
          </a:xfrm>
          <a:prstGeom prst="roundRect">
            <a:avLst>
              <a:gd name="adj" fmla="val 13625312"/>
            </a:avLst>
          </a:prstGeom>
          <a:solidFill>
            <a:srgbClr val="609D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29980" y="1948607"/>
            <a:ext cx="188714" cy="1887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14638" y="2379315"/>
            <a:ext cx="1747540" cy="218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Pandas &amp; NumPy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414638" y="2673697"/>
            <a:ext cx="2314649" cy="4263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 wrangling and numerical computation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00452" y="1688753"/>
            <a:ext cx="2603674" cy="1555849"/>
          </a:xfrm>
          <a:prstGeom prst="roundRect">
            <a:avLst>
              <a:gd name="adj" fmla="val 3774"/>
            </a:avLst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144964" y="1833265"/>
            <a:ext cx="419398" cy="419398"/>
          </a:xfrm>
          <a:prstGeom prst="roundRect">
            <a:avLst>
              <a:gd name="adj" fmla="val 13625312"/>
            </a:avLst>
          </a:prstGeom>
          <a:solidFill>
            <a:srgbClr val="609D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60306" y="1948607"/>
            <a:ext cx="188714" cy="18871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44964" y="2379315"/>
            <a:ext cx="1747540" cy="218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Matplotlib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144964" y="2673697"/>
            <a:ext cx="2314649" cy="213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Visualization and result plotting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39874" y="3371255"/>
            <a:ext cx="3968800" cy="1342653"/>
          </a:xfrm>
          <a:prstGeom prst="roundRect">
            <a:avLst>
              <a:gd name="adj" fmla="val 4373"/>
            </a:avLst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84386" y="3515767"/>
            <a:ext cx="419398" cy="419398"/>
          </a:xfrm>
          <a:prstGeom prst="roundRect">
            <a:avLst>
              <a:gd name="adj" fmla="val 13625312"/>
            </a:avLst>
          </a:prstGeom>
          <a:solidFill>
            <a:srgbClr val="609D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9728" y="3631109"/>
            <a:ext cx="188714" cy="18871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4386" y="4061817"/>
            <a:ext cx="1747540" cy="218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Scikit-learn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84386" y="4356199"/>
            <a:ext cx="3679775" cy="213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ML model training and evaluation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635326" y="3371255"/>
            <a:ext cx="3968800" cy="1342653"/>
          </a:xfrm>
          <a:prstGeom prst="roundRect">
            <a:avLst>
              <a:gd name="adj" fmla="val 4373"/>
            </a:avLst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779838" y="3515767"/>
            <a:ext cx="419398" cy="419398"/>
          </a:xfrm>
          <a:prstGeom prst="roundRect">
            <a:avLst>
              <a:gd name="adj" fmla="val 13625312"/>
            </a:avLst>
          </a:prstGeom>
          <a:solidFill>
            <a:srgbClr val="609DF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95180" y="3631109"/>
            <a:ext cx="188714" cy="18871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779838" y="4061817"/>
            <a:ext cx="1747540" cy="218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Jupyter Notebook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779838" y="4356199"/>
            <a:ext cx="3679775" cy="213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Interactive development environment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7519" y="327124"/>
            <a:ext cx="2312491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Machine Learning Models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67519" y="547836"/>
            <a:ext cx="6315745" cy="369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Four Classification Algorithms Compared</a:t>
            </a:r>
            <a:endParaRPr lang="en-US" sz="2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7519" y="1154237"/>
            <a:ext cx="3560341" cy="35603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20754" y="2178844"/>
            <a:ext cx="3560341" cy="667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Each algorithm brings a distinct approach to classification. By comparing them on the same dataset, the project identifies which model best balances </a:t>
            </a:r>
            <a:pPr algn="l" indent="0" marL="0">
              <a:lnSpc>
                <a:spcPct val="118000"/>
              </a:lnSpc>
              <a:buNone/>
            </a:pPr>
            <a:r>
              <a:rPr lang="en-US" sz="9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accuracy, interpretability, and generalization</a:t>
            </a:r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for cardiac risk prediction.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720754" y="2947615"/>
            <a:ext cx="3560341" cy="721891"/>
          </a:xfrm>
          <a:prstGeom prst="roundRect">
            <a:avLst>
              <a:gd name="adj" fmla="val 6872"/>
            </a:avLst>
          </a:prstGeom>
          <a:solidFill>
            <a:srgbClr val="022349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8849" y="3115642"/>
            <a:ext cx="147637" cy="11809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104581" y="3058418"/>
            <a:ext cx="3058418" cy="5002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Random Forest typically outperforms single-tree models by aggregating predictions across multiple decision trees, reducing variance and overfitting.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469553"/>
            <a:ext cx="2325291" cy="233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Dataset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539874" y="760884"/>
            <a:ext cx="5154513" cy="467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Patient Health Parameters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39874" y="1445047"/>
            <a:ext cx="8064252" cy="470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model is trained on a structured medical dataset containing real patient records. Each record includes clinical measurements that serve as input features for prediction.</a:t>
            </a:r>
            <a:endParaRPr lang="en-US" sz="11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9874" y="2078459"/>
            <a:ext cx="298847" cy="2988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9874" y="2558207"/>
            <a:ext cx="1868091" cy="233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Demographics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39874" y="2878485"/>
            <a:ext cx="3941638" cy="235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Age, sex, and patient profile information</a:t>
            </a:r>
            <a:endParaRPr lang="en-US" sz="11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2413" y="2078459"/>
            <a:ext cx="298847" cy="29884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62413" y="2558207"/>
            <a:ext cx="1868091" cy="233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Cardiac Metrics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4662413" y="2878485"/>
            <a:ext cx="3941713" cy="470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Resting blood pressure, maximum heart rate, ECG results</a:t>
            </a:r>
            <a:endParaRPr lang="en-US" sz="11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9874" y="3638624"/>
            <a:ext cx="298847" cy="29884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39874" y="4118372"/>
            <a:ext cx="1868091" cy="233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Blood Chemistry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539874" y="4438650"/>
            <a:ext cx="3941638" cy="235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Serum cholesterol, fasting blood sugar levels</a:t>
            </a:r>
            <a:endParaRPr lang="en-US" sz="11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62413" y="3638624"/>
            <a:ext cx="298847" cy="29884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662413" y="4118372"/>
            <a:ext cx="1868091" cy="233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Stress Indicators</a:t>
            </a:r>
            <a:endParaRPr lang="en-US" sz="1450" dirty="0"/>
          </a:p>
        </p:txBody>
      </p:sp>
      <p:sp>
        <p:nvSpPr>
          <p:cNvPr id="16" name="Text 10"/>
          <p:cNvSpPr/>
          <p:nvPr/>
        </p:nvSpPr>
        <p:spPr>
          <a:xfrm>
            <a:off x="4662413" y="4438650"/>
            <a:ext cx="3941713" cy="235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Exercise-induced angina, ST depression, slope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9272" y="386283"/>
            <a:ext cx="2204740" cy="218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Workflow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89272" y="655365"/>
            <a:ext cx="4461942" cy="436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From Data to Prediction</a:t>
            </a:r>
            <a:endParaRPr lang="en-US" sz="2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7050" y="1282229"/>
            <a:ext cx="6349826" cy="29060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59132" y="3383392"/>
            <a:ext cx="1192127" cy="459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Evaluate &amp; Predict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756726" y="3498216"/>
            <a:ext cx="1192126" cy="229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Train Models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262485" y="3498216"/>
            <a:ext cx="1192127" cy="229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Split Data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735583" y="3383392"/>
            <a:ext cx="1192127" cy="459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Load &amp; Preprocess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89272" y="4330824"/>
            <a:ext cx="8165455" cy="4263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pipeline follows a standard supervised learning workflow: raw patient data is cleaned and encoded, split into training and testing sets, fed into each classifier, and finally evaluated for accuracy before generating predictions.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68874" y="433908"/>
            <a:ext cx="4635252" cy="8134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Running the Project &amp; Expected Output</a:t>
            </a:r>
            <a:endParaRPr lang="en-US" sz="2550" dirty="0"/>
          </a:p>
        </p:txBody>
      </p:sp>
      <p:sp>
        <p:nvSpPr>
          <p:cNvPr id="4" name="Text 1"/>
          <p:cNvSpPr/>
          <p:nvPr/>
        </p:nvSpPr>
        <p:spPr>
          <a:xfrm>
            <a:off x="3968874" y="1412081"/>
            <a:ext cx="260300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3968874" y="1618952"/>
            <a:ext cx="2262708" cy="14288"/>
          </a:xfrm>
          <a:prstGeom prst="rect">
            <a:avLst/>
          </a:prstGeom>
          <a:solidFill>
            <a:srgbClr val="609DFF"/>
          </a:solidFill>
          <a:ln/>
        </p:spPr>
      </p:sp>
      <p:sp>
        <p:nvSpPr>
          <p:cNvPr id="6" name="Text 3"/>
          <p:cNvSpPr/>
          <p:nvPr/>
        </p:nvSpPr>
        <p:spPr>
          <a:xfrm>
            <a:off x="3968874" y="1712565"/>
            <a:ext cx="1637630" cy="203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Install Dependencies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3968874" y="1981795"/>
            <a:ext cx="2262708" cy="575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E2E6E9"/>
                </a:solidFill>
                <a:highlight>
                  <a:srgbClr val="16222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— installs Pandas, NumPy, Scikit-learn, and Matplotlib.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341343" y="1412081"/>
            <a:ext cx="260300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341343" y="1618952"/>
            <a:ext cx="2262783" cy="14288"/>
          </a:xfrm>
          <a:prstGeom prst="rect">
            <a:avLst/>
          </a:prstGeom>
          <a:solidFill>
            <a:srgbClr val="609DFF"/>
          </a:solidFill>
          <a:ln/>
        </p:spPr>
      </p:sp>
      <p:sp>
        <p:nvSpPr>
          <p:cNvPr id="10" name="Text 7"/>
          <p:cNvSpPr/>
          <p:nvPr/>
        </p:nvSpPr>
        <p:spPr>
          <a:xfrm>
            <a:off x="6341343" y="1712565"/>
            <a:ext cx="1627063" cy="203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Run the Script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341343" y="1981795"/>
            <a:ext cx="2262783" cy="575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E2E6E9"/>
                </a:solidFill>
                <a:highlight>
                  <a:srgbClr val="16222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python heart_disease_prediction.py</a:t>
            </a:r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— loads the dataset, trains all four models, and evaluates performance.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968874" y="2764854"/>
            <a:ext cx="260300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968874" y="2971726"/>
            <a:ext cx="4635252" cy="14288"/>
          </a:xfrm>
          <a:prstGeom prst="rect">
            <a:avLst/>
          </a:prstGeom>
          <a:solidFill>
            <a:srgbClr val="609DFF"/>
          </a:solidFill>
          <a:ln/>
        </p:spPr>
      </p:sp>
      <p:sp>
        <p:nvSpPr>
          <p:cNvPr id="14" name="Text 11"/>
          <p:cNvSpPr/>
          <p:nvPr/>
        </p:nvSpPr>
        <p:spPr>
          <a:xfrm>
            <a:off x="3968874" y="3065338"/>
            <a:ext cx="1627063" cy="203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View Results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3968874" y="3334569"/>
            <a:ext cx="4635252" cy="383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system outputs a </a:t>
            </a:r>
            <a:pPr algn="l" indent="0" marL="0">
              <a:lnSpc>
                <a:spcPct val="123000"/>
              </a:lnSpc>
              <a:buNone/>
            </a:pPr>
            <a:r>
              <a:rPr lang="en-US" sz="10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heart disease prediction</a:t>
            </a:r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(positive/negative) along with </a:t>
            </a:r>
            <a:pPr algn="l" indent="0" marL="0">
              <a:lnSpc>
                <a:spcPct val="123000"/>
              </a:lnSpc>
              <a:buNone/>
            </a:pPr>
            <a:r>
              <a:rPr lang="en-US" sz="10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accuracy scores</a:t>
            </a:r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for each algorithm.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968874" y="3939480"/>
            <a:ext cx="4635252" cy="646509"/>
          </a:xfrm>
          <a:prstGeom prst="roundRect">
            <a:avLst>
              <a:gd name="adj" fmla="val 8456"/>
            </a:avLst>
          </a:prstGeom>
          <a:solidFill>
            <a:srgbClr val="001D4D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9024" y="4116809"/>
            <a:ext cx="162669" cy="13015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391844" y="4070821"/>
            <a:ext cx="4082132" cy="383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Project by </a:t>
            </a:r>
            <a:pPr algn="l" indent="0" marL="0">
              <a:lnSpc>
                <a:spcPct val="123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Thungeti Rajasekhar</a:t>
            </a:r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· B.Tech (2023–2027) · Annamacharya Institute of Science and Technology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2026-06-12T02:16:46Z</dcterms:created>
  <dcterms:modified xsi:type="dcterms:W3CDTF">2026-06-12T02:16:46Z</dcterms:modified>
</cp:coreProperties>
</file>